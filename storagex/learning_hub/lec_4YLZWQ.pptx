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94220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Day 1 — Understanding ResearchCraft &amp; Your Role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414712"/>
            <a:ext cx="6223638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 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Day 1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keep it very simple. The objective is to make every sales executive understand 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who we are, what we sell, and what their actual role is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before they start learning individual services.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 can directly copy-paste the following into your portal: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52661"/>
            <a:ext cx="3887789" cy="212130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81824" y="694531"/>
            <a:ext cx="4329897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SALES FOUNDATION | RESEARCHCRAFT | SALES EXECUTIVE | BASIC 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903883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DAY 1 — UNDERSTANDING RESEARCHCRAFT &amp; YOUR ROLE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98086" y="1460996"/>
            <a:ext cx="10795524" cy="48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Welcome to Day 1 of the ResearchCraft Sales Learning Program. </a:t>
            </a:r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🎯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Before you start selling any service, you must first understand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ResearchCraft does and what your responsibility is as a Sales Executive.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7480" y="2060476"/>
            <a:ext cx="5428618" cy="3589734"/>
          </a:xfrm>
          <a:prstGeom prst="roundRect">
            <a:avLst>
              <a:gd name="adj" fmla="val 9336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7078" y="2158206"/>
            <a:ext cx="514942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 What is ResearchCraft?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7078" y="2461320"/>
            <a:ext cx="5149424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ResearchCraft provides professional 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academic and research support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students, research scholars, PhD candidates, faculty members, and researchers.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objective is to understand the researcher's requirement and connect them with the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right academic service and technical expert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72552" y="2158206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2. What Services Do We Provide?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72552" y="2461320"/>
            <a:ext cx="583699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major services include: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72552" y="2739033"/>
            <a:ext cx="5227408" cy="2877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📘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Thesis &amp; Dissertation Support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📝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Synopsis / Research Proposal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📄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Research Paper Writing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🏆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Scopus Research Paper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🔬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SCI Research Paper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🎤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Conference Research Paper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📚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Review Paper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🔎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Systematic Literature Review (SLR)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📊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Systematic Review + Meta-Analysis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📈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Bibliometric Analysis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💻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Data Analysis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✍️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Editing &amp; Proofreading</a:t>
            </a:r>
            <a:endParaRPr lang="en-US" sz="1050" dirty="0"/>
          </a:p>
          <a:p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📑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213360" indent="-213360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Formatting &amp; Research 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8086" y="5760145"/>
            <a:ext cx="10795524" cy="445095"/>
          </a:xfrm>
          <a:prstGeom prst="roundRect">
            <a:avLst>
              <a:gd name="adj" fmla="val 47058"/>
            </a:avLst>
          </a:prstGeom>
          <a:solidFill>
            <a:srgbClr val="78550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683" y="5897463"/>
            <a:ext cx="174521" cy="13960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51802" y="5892701"/>
            <a:ext cx="1081179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Important: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You do not need to become a technical expert on Day 1. You need to learn how to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identify the client's requirement correctly.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9877"/>
            <a:ext cx="10795524" cy="31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 What Is Your Role as a Sales Executive?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98086" y="1031180"/>
            <a:ext cx="10795524" cy="329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Your job is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not only to sell a service.</a:t>
            </a:r>
            <a:endParaRPr lang="en-US" sz="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Your primary responsibility is: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425277"/>
            <a:ext cx="536859" cy="6442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2689" y="1532632"/>
            <a:ext cx="10200921" cy="157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Understand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069505"/>
            <a:ext cx="536859" cy="6442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2689" y="2176859"/>
            <a:ext cx="10200921" cy="157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Identify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713732"/>
            <a:ext cx="536859" cy="6442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92689" y="2821087"/>
            <a:ext cx="10200921" cy="157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Recommend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3357959"/>
            <a:ext cx="536859" cy="64422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92689" y="3465314"/>
            <a:ext cx="10200921" cy="157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Follow Up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4002187"/>
            <a:ext cx="536859" cy="64422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92689" y="4109541"/>
            <a:ext cx="10200921" cy="157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Convert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698086" y="4711402"/>
            <a:ext cx="11405108" cy="13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When a new lead comes to you, you should understand:</a:t>
            </a:r>
            <a:endParaRPr lang="en-US" sz="800" dirty="0"/>
          </a:p>
        </p:txBody>
      </p:sp>
      <p:sp>
        <p:nvSpPr>
          <p:cNvPr id="15" name="Text 8"/>
          <p:cNvSpPr/>
          <p:nvPr/>
        </p:nvSpPr>
        <p:spPr>
          <a:xfrm>
            <a:off x="698086" y="4908451"/>
            <a:ext cx="10795524" cy="1349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1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Who is the client?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2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is their research title/topic?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3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Which subject/domain does it belong to?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4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service do they need?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5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stage are they currently at?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6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exactly do they need from us?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7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is their required timeline?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8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Do they have data/reference material/guidelines?</a:t>
            </a:r>
            <a:endParaRPr lang="en-US" sz="800" dirty="0"/>
          </a:p>
          <a:p>
            <a:pPr algn="l" marL="162560" indent="-162560">
              <a:lnSpc>
                <a:spcPct val="103000"/>
              </a:lnSpc>
              <a:buSzPct val="100000"/>
              <a:buFont typeface="+mj-lt"/>
              <a:buAutoNum type="arabicPeriod" startAt="9"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What deliverables are required?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022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4. Never Start With Price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55862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of the biggest mistakes in academic sales is: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39881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Incorrect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2891532"/>
            <a:ext cx="5154484" cy="132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Client:</a:t>
            </a:r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"How much for thesis?"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Sales Executive:</a:t>
            </a:r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"₹40,000."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This is not the correct approach.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01910" y="2199382"/>
            <a:ext cx="5441615" cy="2966244"/>
          </a:xfrm>
          <a:prstGeom prst="roundRect">
            <a:avLst>
              <a:gd name="adj" fmla="val 16140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1334" y="2398812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Correct Approach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1334" y="2891532"/>
            <a:ext cx="5042766" cy="209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Sales Executive: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"Certainly, we can help you with your thesis requirement. May I first understand your research topic, subject area, current research stage, and the specific chapters or support you require? Based on your requirement, I'll suggest the appropriate support and quotation."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5389959"/>
            <a:ext cx="10795524" cy="797719"/>
          </a:xfrm>
          <a:prstGeom prst="roundRect">
            <a:avLst>
              <a:gd name="adj" fmla="val 37509"/>
            </a:avLst>
          </a:prstGeom>
          <a:solidFill>
            <a:srgbClr val="78550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5680571"/>
            <a:ext cx="249330" cy="1994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6266" y="5639197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Remember: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Requirement first → Service second → Scope third → Price last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1841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5. Example of a Good Sales Conversation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30405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Client: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"I need help with my research paper."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3047008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Weak Response 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3539728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"Okay sir, research paper is ₹10,000."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01910" y="2847578"/>
            <a:ext cx="5441615" cy="2148384"/>
          </a:xfrm>
          <a:prstGeom prst="roundRect">
            <a:avLst>
              <a:gd name="adj" fmla="val 22284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1334" y="3047008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Professional Response 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1334" y="3539728"/>
            <a:ext cx="504276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"Certainly, we can assist you. May I know your research title and subject area? Also, are you looking for a regular research paper, Scopus, SCI, conference paper, review paper, or systematic review?"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8086" y="522029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Now you are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qualifying the lead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instead of simply giving a price.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3256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6. Your Golden Rule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967359" y="1746746"/>
            <a:ext cx="10526251" cy="42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DO NOT GUESS THE SERVICE.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698086" y="1504454"/>
            <a:ext cx="25399" cy="906959"/>
          </a:xfrm>
          <a:prstGeom prst="roundRect">
            <a:avLst>
              <a:gd name="adj" fmla="val 50001"/>
            </a:avLst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593181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you are confused about: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8086" y="3047702"/>
            <a:ext cx="10795524" cy="2247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Domain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Service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Technical requirement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analysis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Writer assignment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Publication requirement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Research methodology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8086" y="5477470"/>
            <a:ext cx="10795524" cy="72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Do not give the client incorrect information.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Collect the complete requirement and take help from the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Team Leader / Technical Team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whenever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028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7. Today's Key Learning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35919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Remember these five points: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179439"/>
            <a:ext cx="3465525" cy="20739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1094" y="2329061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22910" y="2977257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Listen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22910" y="3390205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Understand what the client is actually saying.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2179439"/>
            <a:ext cx="3465525" cy="20739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6044" y="2329061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87859" y="2977257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Ask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87859" y="3390205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Ask the right questions before recommending anything.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7985" y="2179439"/>
            <a:ext cx="3465624" cy="207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1093" y="2329061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52809" y="2977257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Identify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2809" y="3390205"/>
            <a:ext cx="30159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the subject, service and requirement.</a:t>
            </a:r>
            <a:endParaRPr lang="en-US" sz="15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452838"/>
            <a:ext cx="5298049" cy="17547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27356" y="4602460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22910" y="5250656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Explain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22910" y="5663605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Explain the service in simple language.</a:t>
            </a:r>
            <a:endParaRPr lang="en-US" sz="15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5560" y="4452838"/>
            <a:ext cx="5298049" cy="175478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24831" y="4602460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20384" y="5250656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Convert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420384" y="5663605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Move the qualified lead towards the next step.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2384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DAY 1 PRACTICAL TASK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212155"/>
            <a:ext cx="1140510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Before completing today's training, prepare answers for these </a:t>
            </a:r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5 questions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478062"/>
            <a:ext cx="10795524" cy="7779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2806" y="1745456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19973" y="1626691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Q1. What are the major services provided by ResearchCraft?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340273"/>
            <a:ext cx="10795524" cy="777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2806" y="2607667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19973" y="2488902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Q2. What information should you collect from a new lead?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202484"/>
            <a:ext cx="10795524" cy="7779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2806" y="3469878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319973" y="3351113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Q3. Why should you not give the price immediately?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064695"/>
            <a:ext cx="10795524" cy="7779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2806" y="4332089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319973" y="4213324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Q4. What should you do if you don't understand the client's technical requirement?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926905"/>
            <a:ext cx="10795524" cy="77797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2806" y="5194300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319973" y="5075535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Q5. What are the five stages of your sales approach?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98086" y="5799634"/>
            <a:ext cx="10795524" cy="395883"/>
          </a:xfrm>
          <a:prstGeom prst="roundRect">
            <a:avLst>
              <a:gd name="adj" fmla="val 49129"/>
            </a:avLst>
          </a:prstGeom>
          <a:solidFill>
            <a:srgbClr val="78550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662" y="5917109"/>
            <a:ext cx="162020" cy="1295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19259" y="5916216"/>
            <a:ext cx="10854359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Answer: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Understand → Identify → Recommend → Follow Up → Convert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2766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📞</a:t>
            </a:r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DAY 1 ROLE PLAY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52426"/>
            <a:ext cx="1079552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Situation: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07531" y="1614289"/>
            <a:ext cx="1119566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Client: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"I am doing PhD in Management and I need help with my thesis. How much do you charge?"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8086" y="1504355"/>
            <a:ext cx="19050" cy="409674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023963"/>
            <a:ext cx="10795524" cy="48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Sales Executive must </a:t>
            </a:r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not immediately give the price</a:t>
            </a:r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executive should ask at least: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373" y="2630289"/>
            <a:ext cx="209446" cy="2094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1802" y="2623443"/>
            <a:ext cx="103418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is your research title?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373" y="3251498"/>
            <a:ext cx="209446" cy="2094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1802" y="3244652"/>
            <a:ext cx="103418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stage is your thesis currently at?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373" y="3872706"/>
            <a:ext cx="209446" cy="2094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1802" y="3865860"/>
            <a:ext cx="103418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Which chapters do you need support with?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373" y="4493915"/>
            <a:ext cx="209446" cy="2094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1802" y="4487069"/>
            <a:ext cx="103418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 you already have research data?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373" y="5115123"/>
            <a:ext cx="209446" cy="2094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51802" y="5108277"/>
            <a:ext cx="103418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 you have university guidelines?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0373" y="5736332"/>
            <a:ext cx="209446" cy="20945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51802" y="5729486"/>
            <a:ext cx="103418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is your expected timeline?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451570"/>
            <a:ext cx="6223638" cy="117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DAY 1 MESSAGE TO REMEMBER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569108" y="3229570"/>
            <a:ext cx="5924501" cy="187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"A successful sales executive does not sell first. A successful sales executive understands first."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69971" y="2930426"/>
            <a:ext cx="25399" cy="2475905"/>
          </a:xfrm>
          <a:prstGeom prst="roundRect">
            <a:avLst>
              <a:gd name="adj" fmla="val 50001"/>
            </a:avLst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2026-08-10T20:27:34Z</dcterms:created>
  <dcterms:modified xsi:type="dcterms:W3CDTF">2026-08-10T20:27:34Z</dcterms:modified>
</cp:coreProperties>
</file>