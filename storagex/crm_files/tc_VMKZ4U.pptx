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200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71DAE-9B11-4312-878E-17401D83F82C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274B9-964E-4AE8-BD50-B46F2A272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UNIVERSITY OF LUCKNOW, </a:t>
            </a:r>
            <a:br>
              <a:rPr lang="en-US" dirty="0" smtClean="0"/>
            </a:br>
            <a:r>
              <a:rPr lang="en-US" dirty="0" smtClean="0"/>
              <a:t>IMS ,2025-2026</a:t>
            </a:r>
            <a:br>
              <a:rPr lang="en-US" dirty="0" smtClean="0"/>
            </a:br>
            <a:r>
              <a:rPr lang="en-US" dirty="0" smtClean="0"/>
              <a:t>TOPIC-ORGANIZATIONAL DESIGN FOR SCALLING A START-UP (SWIGGY)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38600"/>
            <a:ext cx="6400800" cy="1752600"/>
          </a:xfrm>
        </p:spPr>
        <p:txBody>
          <a:bodyPr>
            <a:normAutofit fontScale="25000" lnSpcReduction="20000"/>
          </a:bodyPr>
          <a:lstStyle/>
          <a:p>
            <a:r>
              <a:rPr lang="en-US" sz="12800" dirty="0" smtClean="0"/>
              <a:t>SUBMITTED BY-                                                                                                    </a:t>
            </a:r>
          </a:p>
          <a:p>
            <a:r>
              <a:rPr lang="en-US" sz="12800" dirty="0" smtClean="0"/>
              <a:t>NAME-ALKA GAUTAM                    </a:t>
            </a:r>
          </a:p>
          <a:p>
            <a:r>
              <a:rPr lang="en-US" sz="12800" dirty="0" smtClean="0"/>
              <a:t>SEM/SUB-3</a:t>
            </a:r>
            <a:r>
              <a:rPr lang="en-US" sz="12800" baseline="30000" dirty="0" smtClean="0"/>
              <a:t>rd</a:t>
            </a:r>
            <a:r>
              <a:rPr lang="en-US" sz="12800" dirty="0" smtClean="0"/>
              <a:t> semester, MBA(HR)</a:t>
            </a:r>
          </a:p>
          <a:p>
            <a:r>
              <a:rPr lang="en-US" sz="12800" dirty="0" smtClean="0"/>
              <a:t>ROLL NO.- 2410019025025 </a:t>
            </a:r>
            <a:endParaRPr lang="en-US" sz="12800" dirty="0" smtClean="0"/>
          </a:p>
          <a:p>
            <a:r>
              <a:rPr lang="en-US" sz="12800" dirty="0" smtClean="0"/>
              <a:t>S.NO.- 15 </a:t>
            </a:r>
            <a:r>
              <a:rPr lang="en-US" dirty="0" smtClean="0"/>
              <a:t>      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1524000"/>
            <a:ext cx="8763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sz="2400" dirty="0" smtClean="0"/>
              <a:t>I would like to express my sincere gratitude to my faculty guide, </a:t>
            </a:r>
            <a:r>
              <a:rPr lang="en-US" sz="2400" b="1" dirty="0" smtClean="0"/>
              <a:t>[DR.MANISH SIR]</a:t>
            </a:r>
            <a:r>
              <a:rPr lang="en-US" sz="2400" dirty="0" smtClean="0"/>
              <a:t>, for their valuable guidance, encouragement, and support throughout the preparation of this case study. Their insights and suggestions have been instrumental in shaping the quality of this work.</a:t>
            </a:r>
          </a:p>
          <a:p>
            <a:r>
              <a:rPr lang="en-US" sz="2400" dirty="0" smtClean="0"/>
              <a:t>I am also thankful to </a:t>
            </a:r>
            <a:r>
              <a:rPr lang="en-US" sz="2400" b="1" dirty="0" smtClean="0"/>
              <a:t>[LUCKNOW UNIVERSITY]</a:t>
            </a:r>
            <a:r>
              <a:rPr lang="en-US" sz="2400" dirty="0" smtClean="0"/>
              <a:t> for providing the resources and academic environment that made this study possible.</a:t>
            </a:r>
          </a:p>
          <a:p>
            <a:r>
              <a:rPr lang="en-US" sz="2400" dirty="0" smtClean="0"/>
              <a:t>Lastly, I extend my heartfelt appreciation to my friends and family for their constant motivation and support during this work.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81000" y="685801"/>
            <a:ext cx="8534400" cy="495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b="1" dirty="0">
                <a:latin typeface="Arial" charset="0"/>
                <a:cs typeface="Arial" charset="0"/>
              </a:rPr>
              <a:t> </a:t>
            </a:r>
            <a:r>
              <a:rPr lang="en-US" sz="900" b="1" dirty="0" smtClean="0">
                <a:latin typeface="Arial" charset="0"/>
                <a:cs typeface="Arial" charset="0"/>
              </a:rPr>
              <a:t>                                                                      </a:t>
            </a:r>
            <a:r>
              <a:rPr lang="en-US" sz="2800" b="1" dirty="0" smtClean="0">
                <a:latin typeface="Arial" charset="0"/>
                <a:cs typeface="Arial" charset="0"/>
              </a:rPr>
              <a:t>1.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 today’s dynamic business environment, scaling up a start-up is one of the most critical challenges for entrepreneurs. Scaling requires not only market expansion but also an efficient organizational design that ensures sustainability, efficiency, and adaptability. This case study examines </a:t>
            </a:r>
            <a:r>
              <a:rPr kumimoji="0" lang="en-US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Swiggy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one of India’s largest online food delivery platforms, and explores how its organizational design enabled it to scale rapidly from a small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Bengaluru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-based start-up to a pan-India food-tech giant.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Swiggy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founded in 2014 by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Sriharsha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Majety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Nandan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Reddy, and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Rahul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Jaimini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, started with the mission of providing seamless food delivery at the tap of a button. The company initially operated with a small team, limited geographic coverage, and fewer restaurant partners. However, through strategic organizational design, use of technology, and a customer-centric model,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Swiggy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scaled into a market leader serving millions of customers and partnering with thousands of restaurants across India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473075"/>
            <a:ext cx="184731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Background of </a:t>
            </a:r>
            <a:r>
              <a:rPr lang="en-US" dirty="0" err="1" smtClean="0"/>
              <a:t>Swiggy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" y="1295400"/>
            <a:ext cx="8458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/>
          </a:p>
          <a:p>
            <a:r>
              <a:rPr lang="en-US" sz="2400" dirty="0" err="1" smtClean="0"/>
              <a:t>Swiggy</a:t>
            </a:r>
            <a:r>
              <a:rPr lang="en-US" sz="2400" dirty="0" smtClean="0"/>
              <a:t> entered a highly fragmented and competitive food delivery market. Players like </a:t>
            </a:r>
            <a:r>
              <a:rPr lang="en-US" sz="2400" dirty="0" err="1" smtClean="0"/>
              <a:t>Zomato</a:t>
            </a:r>
            <a:r>
              <a:rPr lang="en-US" sz="2400" dirty="0" smtClean="0"/>
              <a:t>, </a:t>
            </a:r>
            <a:r>
              <a:rPr lang="en-US" sz="2400" dirty="0" err="1" smtClean="0"/>
              <a:t>Foodpanda</a:t>
            </a:r>
            <a:r>
              <a:rPr lang="en-US" sz="2400" dirty="0" smtClean="0"/>
              <a:t>, and </a:t>
            </a:r>
            <a:r>
              <a:rPr lang="en-US" sz="2400" dirty="0" err="1" smtClean="0"/>
              <a:t>TinyOwl</a:t>
            </a:r>
            <a:r>
              <a:rPr lang="en-US" sz="2400" dirty="0" smtClean="0"/>
              <a:t> were already present, but </a:t>
            </a:r>
            <a:r>
              <a:rPr lang="en-US" sz="2400" dirty="0" err="1" smtClean="0"/>
              <a:t>Swiggy</a:t>
            </a:r>
            <a:r>
              <a:rPr lang="en-US" sz="2400" dirty="0" smtClean="0"/>
              <a:t> differentiated itself through:</a:t>
            </a:r>
          </a:p>
          <a:p>
            <a:r>
              <a:rPr lang="en-US" sz="2400" b="1" dirty="0" smtClean="0"/>
              <a:t>Logistics-first approach</a:t>
            </a:r>
            <a:r>
              <a:rPr lang="en-US" sz="2400" dirty="0" smtClean="0"/>
              <a:t> – Owning its delivery fleet rather than depending solely on restaurants.</a:t>
            </a:r>
          </a:p>
          <a:p>
            <a:r>
              <a:rPr lang="en-US" sz="2400" b="1" dirty="0" smtClean="0"/>
              <a:t>Technology-driven platform</a:t>
            </a:r>
            <a:r>
              <a:rPr lang="en-US" sz="2400" dirty="0" smtClean="0"/>
              <a:t> – Real-time order tracking, data analytics for route optimization, and AI for demand forecasting.</a:t>
            </a:r>
          </a:p>
          <a:p>
            <a:r>
              <a:rPr lang="en-US" sz="2400" b="1" dirty="0" smtClean="0"/>
              <a:t>Customer-centric design</a:t>
            </a:r>
            <a:r>
              <a:rPr lang="en-US" sz="2400" dirty="0" smtClean="0"/>
              <a:t> – Fast delivery, reliable service, and seamless app interface.</a:t>
            </a:r>
          </a:p>
          <a:p>
            <a:r>
              <a:rPr lang="en-US" sz="2400" dirty="0" smtClean="0"/>
              <a:t>However, as </a:t>
            </a:r>
            <a:r>
              <a:rPr lang="en-US" sz="2400" dirty="0" err="1" smtClean="0"/>
              <a:t>Swiggy</a:t>
            </a:r>
            <a:r>
              <a:rPr lang="en-US" sz="2400" dirty="0" smtClean="0"/>
              <a:t> expanded into multiple cities, scaling required not only technological innovations but also a strong organizational structure to manage complexity, maintain service quality, and motivate employees and delivery partners.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3.Organizational design at </a:t>
            </a:r>
            <a:r>
              <a:rPr lang="en-US" dirty="0" err="1" smtClean="0"/>
              <a:t>swiggy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400" y="1371600"/>
            <a:ext cx="86106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sz="2000" b="1" dirty="0" smtClean="0"/>
              <a:t>a) Flat Structure in Early Stages</a:t>
            </a:r>
          </a:p>
          <a:p>
            <a:r>
              <a:rPr lang="en-US" sz="2000" dirty="0" smtClean="0"/>
              <a:t>In its initial phase, </a:t>
            </a:r>
            <a:r>
              <a:rPr lang="en-US" sz="2000" dirty="0" err="1" smtClean="0"/>
              <a:t>Swiggy</a:t>
            </a:r>
            <a:r>
              <a:rPr lang="en-US" sz="2000" dirty="0" smtClean="0"/>
              <a:t> adopted a </a:t>
            </a:r>
            <a:r>
              <a:rPr lang="en-US" sz="2000" b="1" dirty="0" smtClean="0"/>
              <a:t>flat organizational structure</a:t>
            </a:r>
            <a:r>
              <a:rPr lang="en-US" sz="2000" dirty="0" smtClean="0"/>
              <a:t>, enabling quick decision-making, innovation, and agility.</a:t>
            </a:r>
          </a:p>
          <a:p>
            <a:r>
              <a:rPr lang="en-US" sz="2000" dirty="0" smtClean="0"/>
              <a:t>Founders and core team members worked closely with restaurant partners and delivery executives to understand on-ground challenges.</a:t>
            </a:r>
          </a:p>
          <a:p>
            <a:r>
              <a:rPr lang="en-US" sz="2000" b="1" dirty="0" smtClean="0"/>
              <a:t>b) Functional Structure During Growth</a:t>
            </a:r>
          </a:p>
          <a:p>
            <a:r>
              <a:rPr lang="en-US" sz="2000" dirty="0" smtClean="0"/>
              <a:t>As operations expanded, </a:t>
            </a:r>
            <a:r>
              <a:rPr lang="en-US" sz="2000" dirty="0" err="1" smtClean="0"/>
              <a:t>Swiggy</a:t>
            </a:r>
            <a:r>
              <a:rPr lang="en-US" sz="2000" dirty="0" smtClean="0"/>
              <a:t> moved towards a </a:t>
            </a:r>
            <a:r>
              <a:rPr lang="en-US" sz="2000" b="1" dirty="0" smtClean="0"/>
              <a:t>functional organizational structure</a:t>
            </a:r>
            <a:r>
              <a:rPr lang="en-US" sz="2000" b="1" dirty="0"/>
              <a:t> </a:t>
            </a:r>
            <a:r>
              <a:rPr lang="en-US" sz="2000" b="1" dirty="0" smtClean="0"/>
              <a:t>                                                                                                                                            </a:t>
            </a:r>
          </a:p>
          <a:p>
            <a:r>
              <a:rPr lang="en-US" sz="2000" b="1" dirty="0" smtClean="0"/>
              <a:t>       Operations Team</a:t>
            </a:r>
            <a:r>
              <a:rPr lang="en-US" sz="2000" dirty="0" smtClean="0"/>
              <a:t> – Managed delivery fleet, restaurant </a:t>
            </a:r>
            <a:r>
              <a:rPr lang="en-US" sz="2000" dirty="0" err="1" smtClean="0"/>
              <a:t>onboarding</a:t>
            </a:r>
            <a:r>
              <a:rPr lang="en-US" sz="2000" dirty="0" smtClean="0"/>
              <a:t>, and city-level operations.</a:t>
            </a:r>
          </a:p>
          <a:p>
            <a:pPr lvl="1"/>
            <a:r>
              <a:rPr lang="en-US" sz="2000" b="1" dirty="0" smtClean="0"/>
              <a:t> Technology Team</a:t>
            </a:r>
            <a:r>
              <a:rPr lang="en-US" sz="2000" dirty="0" smtClean="0"/>
              <a:t> – Developed mobile app, optimized algorithms, and improved customer interface.</a:t>
            </a:r>
          </a:p>
          <a:p>
            <a:pPr lvl="1"/>
            <a:r>
              <a:rPr lang="en-US" sz="2000" b="1" dirty="0" smtClean="0"/>
              <a:t>Marketing &amp; Customer Support</a:t>
            </a:r>
            <a:r>
              <a:rPr lang="en-US" sz="2000" dirty="0" smtClean="0"/>
              <a:t> – Focused on branding, customer engagement, and service recovery.</a:t>
            </a:r>
          </a:p>
          <a:p>
            <a:r>
              <a:rPr lang="en-US" sz="2000" dirty="0" smtClean="0"/>
              <a:t>This specialization increased efficiency but also required coordination across functions.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04800"/>
            <a:ext cx="8763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c) Hybrid Structure for Scaling</a:t>
            </a:r>
          </a:p>
          <a:p>
            <a:r>
              <a:rPr lang="en-US" sz="2000" dirty="0" smtClean="0"/>
              <a:t>With pan-India expansion, </a:t>
            </a:r>
            <a:r>
              <a:rPr lang="en-US" sz="2000" dirty="0" err="1" smtClean="0"/>
              <a:t>Swiggy</a:t>
            </a:r>
            <a:r>
              <a:rPr lang="en-US" sz="2000" dirty="0" smtClean="0"/>
              <a:t> adopted a </a:t>
            </a:r>
            <a:r>
              <a:rPr lang="en-US" sz="2000" b="1" dirty="0" smtClean="0"/>
              <a:t>hybrid structure</a:t>
            </a:r>
            <a:r>
              <a:rPr lang="en-US" sz="2000" dirty="0" smtClean="0"/>
              <a:t>:</a:t>
            </a:r>
          </a:p>
          <a:p>
            <a:pPr lvl="1"/>
            <a:r>
              <a:rPr lang="en-US" sz="2000" b="1" dirty="0" smtClean="0"/>
              <a:t>Centralized decision-making</a:t>
            </a:r>
            <a:r>
              <a:rPr lang="en-US" sz="2000" dirty="0" smtClean="0"/>
              <a:t> for strategy, finance, and technology.</a:t>
            </a:r>
          </a:p>
          <a:p>
            <a:pPr lvl="1"/>
            <a:r>
              <a:rPr lang="en-US" sz="2000" b="1" dirty="0" smtClean="0"/>
              <a:t>Decentralized city-level operations</a:t>
            </a:r>
            <a:r>
              <a:rPr lang="en-US" sz="2000" dirty="0" smtClean="0"/>
              <a:t> for adapting to local market needs.</a:t>
            </a:r>
          </a:p>
          <a:p>
            <a:r>
              <a:rPr lang="en-US" sz="2000" dirty="0" smtClean="0"/>
              <a:t>Example: </a:t>
            </a:r>
            <a:r>
              <a:rPr lang="en-US" sz="2000" dirty="0" err="1" smtClean="0"/>
              <a:t>Swiggy’s</a:t>
            </a:r>
            <a:r>
              <a:rPr lang="en-US" sz="2000" dirty="0" smtClean="0"/>
              <a:t> city managers were empowered to handle local promotions, restaurant tie-ups, and delivery fleet issues.</a:t>
            </a:r>
          </a:p>
          <a:p>
            <a:r>
              <a:rPr lang="en-US" sz="2000" b="1" dirty="0" smtClean="0"/>
              <a:t>d) Use of Technology in Design</a:t>
            </a:r>
          </a:p>
          <a:p>
            <a:r>
              <a:rPr lang="en-US" sz="2000" dirty="0" smtClean="0"/>
              <a:t>Organizational processes were heavily </a:t>
            </a:r>
            <a:r>
              <a:rPr lang="en-US" sz="2000" b="1" dirty="0" smtClean="0"/>
              <a:t>data-driven</a:t>
            </a:r>
            <a:r>
              <a:rPr lang="en-US" sz="2000" dirty="0" smtClean="0"/>
              <a:t>:</a:t>
            </a:r>
          </a:p>
          <a:p>
            <a:pPr lvl="1"/>
            <a:r>
              <a:rPr lang="en-US" sz="2000" dirty="0" smtClean="0"/>
              <a:t>Predictive analytics for order volume forecasting.</a:t>
            </a:r>
          </a:p>
          <a:p>
            <a:pPr lvl="1"/>
            <a:r>
              <a:rPr lang="en-US" sz="2000" dirty="0" smtClean="0"/>
              <a:t>Automated incentive systems for delivery executives.</a:t>
            </a:r>
          </a:p>
          <a:p>
            <a:pPr lvl="1"/>
            <a:r>
              <a:rPr lang="en-US" sz="2000" dirty="0" smtClean="0"/>
              <a:t>AI-based recommendations for customers.</a:t>
            </a:r>
          </a:p>
          <a:p>
            <a:r>
              <a:rPr lang="en-US" sz="2000" dirty="0" smtClean="0"/>
              <a:t>This reduced dependency on manual supervision and enabled scale.</a:t>
            </a:r>
          </a:p>
          <a:p>
            <a:r>
              <a:rPr lang="en-US" sz="2000" b="1" dirty="0" smtClean="0"/>
              <a:t>e) Culture and People Design</a:t>
            </a:r>
          </a:p>
          <a:p>
            <a:r>
              <a:rPr lang="en-US" sz="2000" dirty="0" err="1" smtClean="0"/>
              <a:t>Swiggy</a:t>
            </a:r>
            <a:r>
              <a:rPr lang="en-US" sz="2000" dirty="0" smtClean="0"/>
              <a:t> focused on a </a:t>
            </a:r>
            <a:r>
              <a:rPr lang="en-US" sz="2000" b="1" dirty="0" smtClean="0"/>
              <a:t>performance-driven culture</a:t>
            </a:r>
            <a:r>
              <a:rPr lang="en-US" sz="2000" dirty="0" smtClean="0"/>
              <a:t> with incentives for delivery partners.</a:t>
            </a:r>
          </a:p>
          <a:p>
            <a:r>
              <a:rPr lang="en-US" sz="2000" dirty="0" smtClean="0"/>
              <a:t>It invested in employee development, cross-functional collaboration, and transparent communication.</a:t>
            </a:r>
          </a:p>
          <a:p>
            <a:r>
              <a:rPr lang="en-US" sz="2000" dirty="0" smtClean="0"/>
              <a:t>Emphasis on customer obsession became a cultural pillar.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4.Challenges in organizational design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400" y="1582341"/>
            <a:ext cx="86868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sz="2800" dirty="0" smtClean="0"/>
              <a:t>Despite its success, </a:t>
            </a:r>
            <a:r>
              <a:rPr lang="en-US" sz="2800" dirty="0" err="1" smtClean="0"/>
              <a:t>Swiggy</a:t>
            </a:r>
            <a:r>
              <a:rPr lang="en-US" sz="2800" dirty="0" smtClean="0"/>
              <a:t> faced organizational challenges: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       Managing Delivery Partners</a:t>
            </a:r>
            <a:r>
              <a:rPr lang="en-US" sz="2800" dirty="0" smtClean="0"/>
              <a:t> – High attrition rates and maintaining motivation among gig workers.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       Balancing Centralization vs. Decentralization</a:t>
            </a:r>
            <a:r>
              <a:rPr lang="en-US" sz="2800" dirty="0" smtClean="0"/>
              <a:t> – Need for uniform quality but flexibility across cities.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       Competition</a:t>
            </a:r>
            <a:r>
              <a:rPr lang="en-US" sz="2800" dirty="0" smtClean="0"/>
              <a:t> – </a:t>
            </a:r>
            <a:r>
              <a:rPr lang="en-US" sz="2800" dirty="0" err="1" smtClean="0"/>
              <a:t>Zomato’s</a:t>
            </a:r>
            <a:r>
              <a:rPr lang="en-US" sz="2800" dirty="0" smtClean="0"/>
              <a:t> aggressive expansion required </a:t>
            </a:r>
            <a:r>
              <a:rPr lang="en-US" sz="2800" dirty="0" err="1" smtClean="0"/>
              <a:t>Swiggy</a:t>
            </a:r>
            <a:r>
              <a:rPr lang="en-US" sz="2800" dirty="0" smtClean="0"/>
              <a:t> to be agile and innovative.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/>
              <a:t>       Operational Costs</a:t>
            </a:r>
            <a:r>
              <a:rPr lang="en-US" sz="2800" dirty="0" smtClean="0"/>
              <a:t> – Scaling increased overheads; required efficiency-driven design.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5.Key lessons in organizational design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400" y="1582341"/>
            <a:ext cx="8839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      Start simple, scale smart:</a:t>
            </a:r>
            <a:r>
              <a:rPr lang="en-US" sz="2800" dirty="0" smtClean="0"/>
              <a:t> Flat structures work initially but must evolve into hybrid models as complexity grows.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      Balance control and autonomy:</a:t>
            </a:r>
            <a:r>
              <a:rPr lang="en-US" sz="2800" dirty="0" smtClean="0"/>
              <a:t> A mix of centralized strategy and decentralized execution ensures responsiveness.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       Technology as an enabler:</a:t>
            </a:r>
            <a:r>
              <a:rPr lang="en-US" sz="2800" dirty="0" smtClean="0"/>
              <a:t> Data-driven processes reduce complexity and improve scalability.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             Culture drives design:</a:t>
            </a:r>
            <a:r>
              <a:rPr lang="en-US" sz="2800" dirty="0" smtClean="0"/>
              <a:t> A customer-centric, performance-driven culture supports long-term sustainability.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85800"/>
            <a:ext cx="8229600" cy="1143000"/>
          </a:xfrm>
        </p:spPr>
        <p:txBody>
          <a:bodyPr/>
          <a:lstStyle/>
          <a:p>
            <a:r>
              <a:rPr lang="en-US" dirty="0" smtClean="0"/>
              <a:t>6.Conclusion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1524000"/>
            <a:ext cx="8763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sz="2800" dirty="0" err="1" smtClean="0"/>
              <a:t>Swiggy’s</a:t>
            </a:r>
            <a:r>
              <a:rPr lang="en-US" sz="2800" dirty="0" smtClean="0"/>
              <a:t> journey demonstrates how organizational design is a critical factor in scaling a start-up. The company evolved from a flat structure to a hybrid model, leveraging technology, decentralization, and culture to achieve sustainable growth. For start-ups aiming to scale, </a:t>
            </a:r>
            <a:r>
              <a:rPr lang="en-US" sz="2800" dirty="0" err="1" smtClean="0"/>
              <a:t>Swiggy</a:t>
            </a:r>
            <a:r>
              <a:rPr lang="en-US" sz="2800" dirty="0" smtClean="0"/>
              <a:t> offers a blueprint: build lean, evolve structure with scale, empower local decision-making, and use technology as the backbone of organizational efficiency.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7.Case discussion questions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" y="1143000"/>
            <a:ext cx="85344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Why was </a:t>
            </a:r>
            <a:r>
              <a:rPr lang="en-US" sz="2800" dirty="0" err="1" smtClean="0"/>
              <a:t>Swiggy’s</a:t>
            </a:r>
            <a:r>
              <a:rPr lang="en-US" sz="2800" dirty="0" smtClean="0"/>
              <a:t> logistics-first approach a critical organizational design decision?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How did </a:t>
            </a:r>
            <a:r>
              <a:rPr lang="en-US" sz="2800" dirty="0" err="1" smtClean="0"/>
              <a:t>Swiggy</a:t>
            </a:r>
            <a:r>
              <a:rPr lang="en-US" sz="2800" dirty="0" smtClean="0"/>
              <a:t> balance centralization and decentralization in its structure?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What role did technology play in </a:t>
            </a:r>
            <a:r>
              <a:rPr lang="en-US" sz="2800" dirty="0" err="1" smtClean="0"/>
              <a:t>Swiggy’s</a:t>
            </a:r>
            <a:r>
              <a:rPr lang="en-US" sz="2800" dirty="0" smtClean="0"/>
              <a:t> organizational design and scalability?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What are the challenges of managing gig workers (delivery partners) in such a model, and how can </a:t>
            </a:r>
            <a:r>
              <a:rPr lang="en-US" sz="2800" dirty="0" err="1" smtClean="0"/>
              <a:t>Swiggy</a:t>
            </a:r>
            <a:r>
              <a:rPr lang="en-US" sz="2800" dirty="0" smtClean="0"/>
              <a:t> address them?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If </a:t>
            </a:r>
            <a:r>
              <a:rPr lang="en-US" sz="2800" dirty="0" err="1" smtClean="0"/>
              <a:t>Swiggy</a:t>
            </a:r>
            <a:r>
              <a:rPr lang="en-US" sz="2800" dirty="0" smtClean="0"/>
              <a:t> wants to diversify into new verticals (e.g., grocery delivery), how should it redesign its organization?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957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UNIVERSITY OF LUCKNOW,  IMS ,2025-2026 TOPIC-ORGANIZATIONAL DESIGN FOR SCALLING A START-UP (SWIGGY)</vt:lpstr>
      <vt:lpstr>ACKNOWLEDGEMENT</vt:lpstr>
      <vt:lpstr>Slide 3</vt:lpstr>
      <vt:lpstr>2. Background of Swiggy</vt:lpstr>
      <vt:lpstr>3.Organizational design at swiggy</vt:lpstr>
      <vt:lpstr>Slide 6</vt:lpstr>
      <vt:lpstr>4.Challenges in organizational design</vt:lpstr>
      <vt:lpstr>5.Key lessons in organizational design</vt:lpstr>
      <vt:lpstr>6.Conclusion </vt:lpstr>
      <vt:lpstr>7.Case discussion questions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6</cp:revision>
  <dcterms:created xsi:type="dcterms:W3CDTF">2025-09-13T15:57:26Z</dcterms:created>
  <dcterms:modified xsi:type="dcterms:W3CDTF">2025-09-13T17:00:02Z</dcterms:modified>
</cp:coreProperties>
</file>